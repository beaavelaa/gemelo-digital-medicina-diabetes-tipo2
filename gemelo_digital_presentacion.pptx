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FFFFFF"/>
                </a:solidFill>
                <a:latin typeface="Arial"/>
              </a:rPr>
              <a:t>Distribución de clases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70-49FF-8E80-BD6FA368C431}"/>
              </c:ext>
            </c:extLst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70-49FF-8E80-BD6FA368C43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70-49FF-8E80-BD6FA368C43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870-49FF-8E80-BD6FA368C43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diabéticas (65.1%)</c:v>
                </c:pt>
                <c:pt idx="1">
                  <c:v>Diabéticas (34.9%)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70-49FF-8E80-BD6FA368C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F6-46CB-9D5E-74862C2A3B9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F6-46CB-9D5E-74862C2A3B9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F6-46CB-9D5E-74862C2A3B9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DF6-46CB-9D5E-74862C2A3B9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DF6-46CB-9D5E-74862C2A3B92}"/>
              </c:ext>
            </c:extLst>
          </c:dPt>
          <c:dPt>
            <c:idx val="5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F6-46CB-9D5E-74862C2A3B92}"/>
              </c:ext>
            </c:extLst>
          </c:dPt>
          <c:dPt>
            <c:idx val="6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DF6-46CB-9D5E-74862C2A3B92}"/>
              </c:ext>
            </c:extLst>
          </c:dPt>
          <c:dPt>
            <c:idx val="7"/>
            <c:invertIfNegative val="0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DF6-46CB-9D5E-74862C2A3B92}"/>
              </c:ext>
            </c:extLst>
          </c:dPt>
          <c:cat>
            <c:strRef>
              <c:f>Sheet1!$A$2:$A$9</c:f>
              <c:strCache>
                <c:ptCount val="8"/>
                <c:pt idx="0">
                  <c:v>Pregnancies</c:v>
                </c:pt>
                <c:pt idx="1">
                  <c:v>SkinThickness</c:v>
                </c:pt>
                <c:pt idx="2">
                  <c:v>BloodPressure</c:v>
                </c:pt>
                <c:pt idx="3">
                  <c:v>DiabetesPedigreeFunc.</c:v>
                </c:pt>
                <c:pt idx="4">
                  <c:v>Age</c:v>
                </c:pt>
                <c:pt idx="5">
                  <c:v>Insulin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5.1999999999999998E-2</c:v>
                </c:pt>
                <c:pt idx="1">
                  <c:v>6.8000000000000005E-2</c:v>
                </c:pt>
                <c:pt idx="2">
                  <c:v>7.4999999999999997E-2</c:v>
                </c:pt>
                <c:pt idx="3">
                  <c:v>9.5000000000000001E-2</c:v>
                </c:pt>
                <c:pt idx="4">
                  <c:v>0.11799999999999999</c:v>
                </c:pt>
                <c:pt idx="5">
                  <c:v>0.14199999999999999</c:v>
                </c:pt>
                <c:pt idx="6">
                  <c:v>0.17199999999999999</c:v>
                </c:pt>
                <c:pt idx="7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DF6-46CB-9D5E-74862C2A3B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BCD4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00BCD4"/>
                </a:solidFill>
                <a:latin typeface="Arial"/>
              </a:rPr>
              <a:t>Probabilidad de diabetes (%) por escenario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Intervención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Sofía (24a)</c:v>
                </c:pt>
                <c:pt idx="1">
                  <c:v>Laura (35a)</c:v>
                </c:pt>
                <c:pt idx="2">
                  <c:v>Carmen (52a)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13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04-4FD3-889D-8AA2D0A2F6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Estado base</c:v>
                </c:pt>
              </c:strCache>
            </c:strRef>
          </c:tx>
          <c:spPr>
            <a:solidFill>
              <a:srgbClr val="F57F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Sofía (24a)</c:v>
                </c:pt>
                <c:pt idx="1">
                  <c:v>Laura (35a)</c:v>
                </c:pt>
                <c:pt idx="2">
                  <c:v>Carmen (52a)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35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04-4FD3-889D-8AA2D0A2F6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— Descontrol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Sofía (24a)</c:v>
                </c:pt>
                <c:pt idx="1">
                  <c:v>Laura (35a)</c:v>
                </c:pt>
                <c:pt idx="2">
                  <c:v>Carmen (52a)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</c:v>
                </c:pt>
                <c:pt idx="1">
                  <c:v>61</c:v>
                </c:pt>
                <c:pt idx="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04-4FD3-889D-8AA2D0A2F6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 — Peor caso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Sofía (24a)</c:v>
                </c:pt>
                <c:pt idx="1">
                  <c:v>Laura (35a)</c:v>
                </c:pt>
                <c:pt idx="2">
                  <c:v>Carmen (52a)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68</c:v>
                </c:pt>
                <c:pt idx="1">
                  <c:v>87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04-4FD3-889D-8AA2D0A2F6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P(diabetes)</c:v>
                </c:pt>
              </c:strCache>
            </c:strRef>
          </c:tx>
          <c:spPr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80</c:v>
                </c:pt>
                <c:pt idx="1">
                  <c:v>90</c:v>
                </c:pt>
                <c:pt idx="2">
                  <c:v>100</c:v>
                </c:pt>
                <c:pt idx="3">
                  <c:v>110</c:v>
                </c:pt>
                <c:pt idx="4">
                  <c:v>118</c:v>
                </c:pt>
                <c:pt idx="5">
                  <c:v>126</c:v>
                </c:pt>
                <c:pt idx="6">
                  <c:v>138</c:v>
                </c:pt>
                <c:pt idx="7">
                  <c:v>150</c:v>
                </c:pt>
                <c:pt idx="8">
                  <c:v>165</c:v>
                </c:pt>
                <c:pt idx="9">
                  <c:v>180</c:v>
                </c:pt>
                <c:pt idx="10">
                  <c:v>200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16</c:v>
                </c:pt>
                <c:pt idx="4">
                  <c:v>35</c:v>
                </c:pt>
                <c:pt idx="5">
                  <c:v>52</c:v>
                </c:pt>
                <c:pt idx="6">
                  <c:v>68</c:v>
                </c:pt>
                <c:pt idx="7">
                  <c:v>80</c:v>
                </c:pt>
                <c:pt idx="8">
                  <c:v>88</c:v>
                </c:pt>
                <c:pt idx="9">
                  <c:v>92</c:v>
                </c:pt>
                <c:pt idx="10">
                  <c:v>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10-4FD8-95A8-896D07D8E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P(diabetes)</c:v>
                </c:pt>
              </c:strCache>
            </c:strRef>
          </c:tx>
          <c:spPr>
            <a:ln w="38100" cap="flat">
              <a:solidFill>
                <a:srgbClr val="0089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18</c:v>
                </c:pt>
                <c:pt idx="1">
                  <c:v>21</c:v>
                </c:pt>
                <c:pt idx="2">
                  <c:v>24</c:v>
                </c:pt>
                <c:pt idx="3">
                  <c:v>26.5</c:v>
                </c:pt>
                <c:pt idx="4">
                  <c:v>28.5</c:v>
                </c:pt>
                <c:pt idx="5">
                  <c:v>30</c:v>
                </c:pt>
                <c:pt idx="6">
                  <c:v>32</c:v>
                </c:pt>
                <c:pt idx="7">
                  <c:v>35</c:v>
                </c:pt>
                <c:pt idx="8">
                  <c:v>38</c:v>
                </c:pt>
                <c:pt idx="9">
                  <c:v>42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18</c:v>
                </c:pt>
                <c:pt idx="4">
                  <c:v>35</c:v>
                </c:pt>
                <c:pt idx="5">
                  <c:v>46</c:v>
                </c:pt>
                <c:pt idx="6">
                  <c:v>58</c:v>
                </c:pt>
                <c:pt idx="7">
                  <c:v>72</c:v>
                </c:pt>
                <c:pt idx="8">
                  <c:v>83</c:v>
                </c:pt>
                <c:pt idx="9">
                  <c:v>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C9-45B9-B146-E69586A278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99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590095" y="137160"/>
            <a:ext cx="3361881" cy="324612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990875" y="480060"/>
            <a:ext cx="2560320" cy="256032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 Digital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Medicina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Pacientes Virtuales con Machine Learning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Predicción de Diabetes Tipo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Pima Indians Diabetes Database (NIDDK / UCI ML Repository)  ·  Random Forest  ·  3 Gemelos Digitales  ·  12 Escenarios Clínicos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395" y="12115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 y Objetivos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2801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diabetes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mundo (OMS)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43200" cy="128016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46120" y="10789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1719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en España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(Estudio Di@bet.es)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743200" cy="128016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217920" y="10789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5.500M€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1719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sanitario anual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50292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los datos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completo del dataset Pima Indians (768 pacientes, 8 variables clínicas)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modelo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validación cruzada estratificada (5-fold) y métricas múltiples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502920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7432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8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los gemelos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perfiles clínicos diferenciados: riesgo latente, prediabetes y diabetes establecida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663440" y="3566160"/>
            <a:ext cx="50292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66344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escenarios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950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escenarios clínicos (4 por gemelo) + análisis de sensibilidad univariante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Dataset: Pima Indians Diabetes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Diabetes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and Kidney Diseases (NIDDK)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691640"/>
            <a:ext cx="1965960" cy="91440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84048" y="1764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8404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32304" y="1691640"/>
            <a:ext cx="1965960" cy="91440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432304" y="16916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42032" y="1764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542032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90288" y="1691640"/>
            <a:ext cx="1965960" cy="91440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590288" y="16916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700016" y="1764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700016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diabéticas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48272" y="1691640"/>
            <a:ext cx="1965960" cy="91440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748272" y="1691640"/>
            <a:ext cx="54864" cy="9144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6858000" y="1764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8580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diabéticas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clínicas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3154680"/>
            <a:ext cx="5029200" cy="23774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320040" y="3172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Glucose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783080" y="3172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Glucosa plasmática 2h post-carga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794760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mg/dL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0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★★★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3396996"/>
            <a:ext cx="5029200" cy="237744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320040" y="34152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BMI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783080" y="34152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Índice de masa corporal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794760" y="34152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kg/m²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0" y="34152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★★★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3639312"/>
            <a:ext cx="5029200" cy="23774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320040" y="3657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Insulin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78308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Insulina sérica a las 2h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794760" y="3657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 U/ml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572000" y="3657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★★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3881628"/>
            <a:ext cx="5029200" cy="237744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320040" y="38999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783080" y="38999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Edad de la paciente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794760" y="38999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años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572000" y="38999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★★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74320" y="4123944"/>
            <a:ext cx="5029200" cy="23774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320040" y="4142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BloodPressure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78308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Presión arterial diastólica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794760" y="4142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mmHg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0" y="4142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74320" y="4366260"/>
            <a:ext cx="5029200" cy="237744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6"/>
          <p:cNvSpPr/>
          <p:nvPr/>
        </p:nvSpPr>
        <p:spPr>
          <a:xfrm>
            <a:off x="320040" y="43845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DiabetesPedigreeFunction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1783080" y="43845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genética familiar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3794760" y="43845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4572000" y="43845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74320" y="4608576"/>
            <a:ext cx="5029200" cy="237744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1"/>
          <p:cNvSpPr/>
          <p:nvPr/>
        </p:nvSpPr>
        <p:spPr>
          <a:xfrm>
            <a:off x="320040" y="46268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Pregnancies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1783080" y="4626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Número de embarazos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3794760" y="46268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4572000" y="46268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274320" y="4850892"/>
            <a:ext cx="5029200" cy="237744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320040" y="48691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C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SkinThickness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1783080" y="48691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Pliegue cutáneo tríceps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3794760" y="48691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mm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4572000" y="48691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</a:t>
            </a:r>
            <a:endParaRPr lang="en-US" sz="900" dirty="0"/>
          </a:p>
        </p:txBody>
      </p:sp>
      <p:graphicFrame>
        <p:nvGraphicFramePr>
          <p:cNvPr id="63" name="Chart 0"/>
          <p:cNvGraphicFramePr/>
          <p:nvPr/>
        </p:nvGraphicFramePr>
        <p:xfrm>
          <a:off x="5577840" y="1005840"/>
          <a:ext cx="3291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4" name="Shape 60"/>
          <p:cNvSpPr/>
          <p:nvPr/>
        </p:nvSpPr>
        <p:spPr>
          <a:xfrm>
            <a:off x="5577840" y="3886200"/>
            <a:ext cx="3291840" cy="10058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5" name="Shape 61"/>
          <p:cNvSpPr/>
          <p:nvPr/>
        </p:nvSpPr>
        <p:spPr>
          <a:xfrm>
            <a:off x="5577840" y="3886200"/>
            <a:ext cx="54864" cy="100584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2"/>
          <p:cNvSpPr/>
          <p:nvPr/>
        </p:nvSpPr>
        <p:spPr>
          <a:xfrm>
            <a:off x="57150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Valores anómalos</a:t>
            </a:r>
            <a:endParaRPr lang="en-US" sz="1100" dirty="0"/>
          </a:p>
        </p:txBody>
      </p:sp>
      <p:sp>
        <p:nvSpPr>
          <p:cNvPr id="67" name="Text 63"/>
          <p:cNvSpPr/>
          <p:nvPr/>
        </p:nvSpPr>
        <p:spPr>
          <a:xfrm>
            <a:off x="5715000" y="4206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variables con ceros imposibles (glucosa = 0, IMC = 0…)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Imputación con la mediana de cada variable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es un Gemelo Digital?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0D21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replica computacional de un paciente real que permite simular intervenciones clinicas sin actuar sobre la persona."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6032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Real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5603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mujeres Pima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clínicos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medidos y verificados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44368" y="3063240"/>
            <a:ext cx="256032" cy="73152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108960" y="29718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200400" y="1965960"/>
            <a:ext cx="25603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320040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56032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entrenado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validación cruzada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&gt; 0.83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79008" y="3063240"/>
            <a:ext cx="256032" cy="73152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5943600" y="29718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03504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6035040" y="1965960"/>
            <a:ext cx="2560320" cy="5029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603504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 Digital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56032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virtual que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escenarios 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probabilidades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743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la simulación?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274320" y="47640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modifica una o varias variables del gemelo (p. ej. glucosa 118 → 100 mg/dL) y el modelo devuelve la nueva probabilidad de diagnóstico. Esa variación (Δp) es la "reacción" del gemelo.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Metodología y Modelo Random Forest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72768" cy="16916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572768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EDA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Exploración, correlaciones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distribuciones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01368" y="1600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84248" y="1005840"/>
            <a:ext cx="1572768" cy="16916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984248" y="1005840"/>
            <a:ext cx="1572768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84248" y="1005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39112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 imputación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valores imposibles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1600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39896" y="1005840"/>
            <a:ext cx="1572768" cy="16916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739896" y="1005840"/>
            <a:ext cx="1572768" cy="4114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39896" y="1005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9476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 por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12664" y="1600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95544" y="1005840"/>
            <a:ext cx="1572768" cy="16916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495544" y="1005840"/>
            <a:ext cx="1572768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495544" y="1005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50408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0408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árboles, max_depth=6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68312" y="16002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51192" y="1005840"/>
            <a:ext cx="1572768" cy="16916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7251192" y="1005840"/>
            <a:ext cx="1572768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251192" y="10058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06056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06056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AUC-ROC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 estratificado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</a:t>
            </a:r>
            <a:endParaRPr lang="en-US" sz="13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274320" y="3063240"/>
          <a:ext cx="5029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Shape 32"/>
          <p:cNvSpPr/>
          <p:nvPr/>
        </p:nvSpPr>
        <p:spPr>
          <a:xfrm>
            <a:off x="5577840" y="2788920"/>
            <a:ext cx="1078992" cy="96012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5577840" y="2788920"/>
            <a:ext cx="54864" cy="9601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669280" y="2834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&gt;77%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669280" y="3337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748272" y="2788920"/>
            <a:ext cx="1078992" cy="96012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6748272" y="2788920"/>
            <a:ext cx="54864" cy="960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6839712" y="2834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&gt;0.83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839712" y="3337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918704" y="2788920"/>
            <a:ext cx="1078992" cy="96012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7918704" y="2788920"/>
            <a:ext cx="54864" cy="9601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8010144" y="2834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77%±3%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8010144" y="3337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577840" y="3840480"/>
            <a:ext cx="3337560" cy="118872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5577840" y="3840480"/>
            <a:ext cx="54864" cy="1188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6"/>
          <p:cNvSpPr/>
          <p:nvPr/>
        </p:nvSpPr>
        <p:spPr>
          <a:xfrm>
            <a:off x="5687568" y="39044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class_weight='balanced'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687568" y="41788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tiene desbalanceo 65/35. Sin este parámetro el modelo ignoraría los casos positivos, que son los clínicamente críticos.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Los Tres Gemelos Digitales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las características: ① Estadísticas del dataset  ② Criterios diagnósticos ADA 2023  ③ Perfil epidemiológico cohorte Pima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78892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Reyes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653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años  ·  Riesgo latente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176272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Glucosa: 108 mg/dL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523744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IMC: 26.5 kg/m²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871216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Insulina: 80 mu U/ml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18688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Pedigrí: 0.42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593592"/>
            <a:ext cx="256032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P(diabetes) = ~15%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4160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diagnóstico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57276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46120" y="1572768"/>
            <a:ext cx="2788920" cy="50292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2461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García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18653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años  ·  Prediabetes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55848" y="2176272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429000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Glucosa: 118 mg/dL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2523744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429000" y="2560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IMC: 28.5 kg/m²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2871216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429000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Insulina: 95 mu U/ml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3218688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429000" y="3255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Pedigrí: 0.48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55848" y="3593592"/>
            <a:ext cx="2560320" cy="50292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355848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P(diabetes) = ~35%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55848" y="4160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Zona de riesgo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1572768"/>
            <a:ext cx="2788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217920" y="1572768"/>
            <a:ext cx="278892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2179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Carmen Vidal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18653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años  ·  Diabetes establecida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2176272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400800" y="22128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Glucosa: 172 mg/dL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2523744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400800" y="2560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IMC: 38.5 kg/m²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27648" y="2871216"/>
            <a:ext cx="25603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400800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Insulina: 200 mu U/ml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3218688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400800" y="3255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Pedigrí: 0.63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27648" y="3593592"/>
            <a:ext cx="256032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6327648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P(diabetes) = &gt;85%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327648" y="4160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Diagnóstico positivo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Simulación de Escenarios Clínicos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960120"/>
            <a:ext cx="3154680" cy="8686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715000" y="960120"/>
            <a:ext cx="54864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15000" y="10698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exitosa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63640" y="1344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Dieta, ejercicio, pérdida de peso → glucosa e IMC mejoran significativamente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1947672"/>
            <a:ext cx="3154680" cy="8686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715000" y="1947672"/>
            <a:ext cx="54864" cy="86868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715000" y="2057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63640" y="2039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base actual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del gemelo sin ningún cambio externo aplicado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0" y="2935224"/>
            <a:ext cx="3154680" cy="8686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5715000" y="2935224"/>
            <a:ext cx="54864" cy="8686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715000" y="30449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63640" y="30266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Descontrol moderado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 ↑, IMC ↑, insulina ↑ por abandono de hábitos saludables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0" y="3922776"/>
            <a:ext cx="3154680" cy="8686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715000" y="3922776"/>
            <a:ext cx="54864" cy="86868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715000" y="40325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263640" y="40142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severo / sin tto.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430682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progresión de la enfermedad o ausencia total de tratamiento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15000" y="4919472"/>
            <a:ext cx="315468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Análisis de Sensibilidad y Comparativa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 → Riesgo (Laura, resto constante)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61872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93008"/>
            <a:ext cx="4114800" cy="22860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74320" y="3493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Normal | Prediabetes | Diabetes →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→ Riesgo (Laura, resto constante)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54880" y="1261872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3493008"/>
            <a:ext cx="4114800" cy="22860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4754880" y="34930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Normopeso | Sobrepeso | Obesidad →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371527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comparativo de los tres gemelos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2138"/>
              </p:ext>
            </p:extLst>
          </p:nvPr>
        </p:nvGraphicFramePr>
        <p:xfrm>
          <a:off x="274320" y="3943878"/>
          <a:ext cx="8595360" cy="1036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escenario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Sofía (24a) — Riesgo latente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Laura (35a) — Prediabetes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Carmen (52a) — Diabetes establ.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56032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779776" cy="13258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54864" cy="1325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competitivo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Accuracy &gt;77% y AUC-ROC &gt;0.83 en línea con el estado del arte para el dataset Pima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779776" cy="13258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18688" y="914400"/>
            <a:ext cx="54864" cy="1325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28416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8416" y="13898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 e IMC son clave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166420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variables con mayor impacto sobre el riesgo, confirmando la evidencia clínica sobre diabetes tipo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914400"/>
            <a:ext cx="2779776" cy="13258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181344" y="914400"/>
            <a:ext cx="54864" cy="13258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91072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1072" y="13898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temprana = mayor beneficio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166420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pasa del 15% al &lt;5% de riesgo. La ventana más valiosa es la prediabetes (Laura)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423160"/>
            <a:ext cx="4343400" cy="13258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56032" y="2423160"/>
            <a:ext cx="54864" cy="1325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5760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2898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no lineal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172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cambio de riesgo en glucosa ocurre entre 120–145 mg/dL: zona crítica de actuación clínica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4343400" cy="13258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09160" y="2423160"/>
            <a:ext cx="54864" cy="1325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18888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18888" y="2898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gemelo digital funciona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31729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simular 12 escenarios distintos sin actuar sobre ningún paciente real, validando el concepto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4005072"/>
            <a:ext cx="8631936" cy="804672"/>
          </a:xfrm>
          <a:prstGeom prst="rect">
            <a:avLst/>
          </a:prstGeom>
          <a:solidFill>
            <a:srgbClr val="0D21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56032" y="4005072"/>
            <a:ext cx="54864" cy="80467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11480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32511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temporales (LSTM) · Integración de wearables · Calibración probabilística · Cohortes más diversas · Dashboard clínico interactivo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964</Words>
  <Application>Microsoft Office PowerPoint</Application>
  <PresentationFormat>Presentación en pantalla (16:9)</PresentationFormat>
  <Paragraphs>219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Gemelo Digital en Medicina</dc:title>
  <dc:subject>PptxGenJS Presentation</dc:subject>
  <dc:creator>PptxGenJS</dc:creator>
  <cp:lastModifiedBy>BEATRIZ VELA MOSCOSO</cp:lastModifiedBy>
  <cp:revision>2</cp:revision>
  <dcterms:created xsi:type="dcterms:W3CDTF">2026-05-14T08:02:18Z</dcterms:created>
  <dcterms:modified xsi:type="dcterms:W3CDTF">2026-05-14T08:12:34Z</dcterms:modified>
</cp:coreProperties>
</file>